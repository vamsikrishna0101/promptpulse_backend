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Visibility</c:v>
                </c:pt>
              </c:strCache>
            </c:strRef>
          </c:tx>
          <c:spPr>
            <a:solidFill>
              <a:srgbClr val="2F80ED"/>
            </a:solidFill>
            <a:ln w="31750" cap="flat">
              <a:solidFill>
                <a:srgbClr val="2F80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80ED"/>
              </a:solidFill>
              <a:ln w="9525" cap="flat">
                <a:solidFill>
                  <a:srgbClr val="2F80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07-01</c:v>
                  </c:pt>
                  <c:pt idx="1">
                    <c:v>07-02</c:v>
                  </c:pt>
                  <c:pt idx="2">
                    <c:v>07-03</c:v>
                  </c:pt>
                  <c:pt idx="3">
                    <c:v>07-04</c:v>
                  </c:pt>
                  <c:pt idx="4">
                    <c:v>07-05</c:v>
                  </c:pt>
                  <c:pt idx="5">
                    <c:v>07-06</c:v>
                  </c:pt>
                  <c:pt idx="6">
                    <c:v>07-07</c:v>
                  </c:pt>
                  <c:pt idx="7">
                    <c:v>07-08</c:v>
                  </c:pt>
                  <c:pt idx="8">
                    <c:v>07-09</c:v>
                  </c:pt>
                  <c:pt idx="9">
                    <c:v>07-10</c:v>
                  </c:pt>
                  <c:pt idx="10">
                    <c:v>07-11</c:v>
                  </c:pt>
                  <c:pt idx="11">
                    <c:v>07-12</c:v>
                  </c:pt>
                  <c:pt idx="12">
                    <c:v>07-13</c:v>
                  </c:pt>
                  <c:pt idx="13">
                    <c:v>07-14</c:v>
                  </c:pt>
                  <c:pt idx="14">
                    <c:v>07-15</c:v>
                  </c:pt>
                  <c:pt idx="15">
                    <c:v>07-16</c:v>
                  </c:pt>
                  <c:pt idx="16">
                    <c:v>07-17</c:v>
                  </c:pt>
                  <c:pt idx="17">
                    <c:v>07-18</c:v>
                  </c:pt>
                  <c:pt idx="18">
                    <c:v>07-19</c:v>
                  </c:pt>
                  <c:pt idx="19">
                    <c:v>07-20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57</c:v>
                </c:pt>
                <c:pt idx="1">
                  <c:v>62.79882590884738</c:v>
                </c:pt>
                <c:pt idx="2">
                  <c:v>63.955784560954086</c:v>
                </c:pt>
                <c:pt idx="3">
                  <c:v>60.0967200483592</c:v>
                </c:pt>
                <c:pt idx="4">
                  <c:v>55.45918502815243</c:v>
                </c:pt>
                <c:pt idx="5">
                  <c:v>54.99645435202117</c:v>
                </c:pt>
                <c:pt idx="6">
                  <c:v>59.823507010806445</c:v>
                </c:pt>
                <c:pt idx="7">
                  <c:v>66.19191959231273</c:v>
                </c:pt>
                <c:pt idx="8">
                  <c:v>68.9361494797403</c:v>
                </c:pt>
                <c:pt idx="9">
                  <c:v>66.22271091145053</c:v>
                </c:pt>
                <c:pt idx="10">
                  <c:v>61.23587333466378</c:v>
                </c:pt>
                <c:pt idx="11">
                  <c:v>59.25005876069578</c:v>
                </c:pt>
                <c:pt idx="12">
                  <c:v>62.78056249199739</c:v>
                </c:pt>
                <c:pt idx="13">
                  <c:v>69.27100222095984</c:v>
                </c:pt>
                <c:pt idx="14">
                  <c:v>73.44364413416922</c:v>
                </c:pt>
                <c:pt idx="15">
                  <c:v>72.1517270409427</c:v>
                </c:pt>
                <c:pt idx="16">
                  <c:v>67.2725801000096</c:v>
                </c:pt>
                <c:pt idx="17">
                  <c:v>63.98161504872266</c:v>
                </c:pt>
                <c:pt idx="18">
                  <c:v>65.99407651936994</c:v>
                </c:pt>
                <c:pt idx="19">
                  <c:v>72.14926325797771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Visibility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Vikas Hospitals</c:v>
                  </c:pt>
                  <c:pt idx="1">
                    <c:v>Apollo Hospitals</c:v>
                  </c:pt>
                  <c:pt idx="2">
                    <c:v>Aster Hospitals</c:v>
                  </c:pt>
                  <c:pt idx="3">
                    <c:v>Manipal Hospitals</c:v>
                  </c:pt>
                  <c:pt idx="4">
                    <c:v>KIMS Hospitals</c:v>
                  </c:pt>
                  <c:pt idx="5">
                    <c:v>CARE Hospitals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71.9</c:v>
                </c:pt>
                <c:pt idx="1">
                  <c:v>62.2</c:v>
                </c:pt>
                <c:pt idx="2">
                  <c:v>57.8</c:v>
                </c:pt>
                <c:pt idx="3">
                  <c:v>53</c:v>
                </c:pt>
                <c:pt idx="4">
                  <c:v>44.6</c:v>
                </c:pt>
                <c:pt idx="5">
                  <c:v>36.1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920240"/>
            <a:ext cx="5669280" cy="5669280"/>
          </a:xfrm>
          <a:prstGeom prst="arc">
            <a:avLst/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5029200"/>
            <a:ext cx="3566160" cy="3566160"/>
          </a:xfrm>
          <a:prstGeom prst="arc">
            <a:avLst/>
          </a:prstGeom>
          <a:solidFill>
            <a:srgbClr val="153B68"/>
          </a:solidFill>
          <a:ln w="12700">
            <a:solidFill>
              <a:srgbClr val="153B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94360"/>
            <a:ext cx="694944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749808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7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A8D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VISIBILITY INTELLIGENCE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99339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visibility report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76656" y="2852928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7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performance, buyer prompts, competitive position, source influence, and an evidence-led action plan.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822192"/>
            <a:ext cx="2834640" cy="658368"/>
          </a:xfrm>
          <a:prstGeom prst="roundRect">
            <a:avLst/>
          </a:prstGeom>
          <a:solidFill>
            <a:srgbClr val="102844"/>
          </a:solidFill>
          <a:ln w="12700">
            <a:solidFill>
              <a:srgbClr val="1028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97764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BB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9536" y="4178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30 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6692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C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VISIBILITY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" y="58978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71.9%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498080" y="59618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Vikas Hospitals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62362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30 days · compared with previous 30 days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609344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09344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764792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RESPONSES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40664" y="19659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0664" y="23225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+55.0 pts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862072" y="1609344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62072" y="1609344"/>
            <a:ext cx="2057400" cy="457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764792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VISIBILITY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08376" y="19659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71.9%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008376" y="23225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+5.5 pts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129784" y="1609344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9784" y="1609344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764792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POSITION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76088" y="19659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#3.1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276088" y="23225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 pts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397496" y="1609344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97496" y="1609344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764792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 SCORE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43800" y="19659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78.2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543800" y="23225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+3.7 pts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9665208" y="1609344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65208" y="1609344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1512" y="1764792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DOMAINS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811512" y="19659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811512" y="23225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+45.0 pts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94360" y="2816352"/>
            <a:ext cx="6903720" cy="960120"/>
          </a:xfrm>
          <a:prstGeom prst="roundRect">
            <a:avLst>
              <a:gd name="adj" fmla="val 5714"/>
            </a:avLst>
          </a:prstGeom>
          <a:solidFill>
            <a:srgbClr val="EDF7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30175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READOUT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22960" y="3255264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is visible in 71.9% of analyzed AI responses at an average position of #3.1.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54112" y="2816352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01000" y="30540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PRIORITIES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10144" y="3465576"/>
            <a:ext cx="201168" cy="201168"/>
          </a:xfrm>
          <a:prstGeom prst="ellipse">
            <a:avLst/>
          </a:prstGeom>
          <a:solidFill>
            <a:srgbClr val="07152D"/>
          </a:solidFill>
          <a:ln w="12700">
            <a:solidFill>
              <a:srgbClr val="0715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55864" y="351129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339328" y="34381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improved by 5.5 points versus the previous period.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8010144" y="3931920"/>
            <a:ext cx="201168" cy="201168"/>
          </a:xfrm>
          <a:prstGeom prst="ellipse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55864" y="397764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339328" y="39044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is the strongest measured engine at 78.0% visibility.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010144" y="4398264"/>
            <a:ext cx="201168" cy="201168"/>
          </a:xfrm>
          <a:prstGeom prst="ellipse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55864" y="444398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339328" y="437083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tracked prompts currently sit in the visibility gap tier.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010144" y="4864608"/>
            <a:ext cx="201168" cy="201168"/>
          </a:xfrm>
          <a:prstGeom prst="ellipse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55864" y="491032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8339328" y="483717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Apollo Hospitals is the strongest measured competitor in this response set.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010144" y="5330952"/>
            <a:ext cx="201168" cy="201168"/>
          </a:xfrm>
          <a:prstGeom prst="ellipse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55864" y="53766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8339328" y="530352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evidence-backed opportunities are ready for prioritization.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94360" y="4005072"/>
            <a:ext cx="69037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22960" y="4242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 MIX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41248" y="4681728"/>
            <a:ext cx="4782689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23937" y="4681728"/>
            <a:ext cx="1277568" cy="256032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01505" y="4681728"/>
            <a:ext cx="294823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" y="52760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 292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25496" y="5276088"/>
            <a:ext cx="91440" cy="91440"/>
          </a:xfrm>
          <a:prstGeom prst="ellipse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7180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 78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91456" y="52760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 18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trend and engine performance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visibility is moving and which AI engines are strengthening or weakening the brand.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609344"/>
            <a:ext cx="69951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850392" y="1956816"/>
          <a:ext cx="64739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818120" y="1609344"/>
            <a:ext cx="3794760" cy="443484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65008" y="184708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SCORECARD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5008" y="2194560"/>
          <a:ext cx="3291840" cy="288036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960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ChatGPT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#2.6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Gemini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#3.4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Perplexity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#4.2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Copilot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#5.0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065008" y="5266944"/>
            <a:ext cx="3291840" cy="51206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47888" y="54315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is the largest engine gap at 58.5%.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and topic coverage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buyer questions the brand owns, the questions it partially answers, and the gaps requiring new content.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72768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REPRESENTED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4066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066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in this report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78892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572768"/>
            <a:ext cx="2057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GAPS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3522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93522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35% visibility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498348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1572768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12978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2978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35–69% visibility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17804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1572768"/>
            <a:ext cx="2057400" cy="457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2434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32434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70%+ visibility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94360" y="2761488"/>
            <a:ext cx="7452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29992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BUYER PROMPTS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319272"/>
          <a:ext cx="6949440" cy="2240280"/>
        </p:xfrm>
        <a:graphic>
          <a:graphicData uri="http://schemas.openxmlformats.org/drawingml/2006/table">
            <a:tbl>
              <a:tblPr/>
              <a:tblGrid>
                <a:gridCol w="3429000"/>
                <a:gridCol w="1143000"/>
                <a:gridCol w="685800"/>
                <a:gridCol w="59436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TOPIC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AI visibility platforms are best for growing …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visibility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#7.2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are the strongest alternatives to Semrush for …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research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#6.8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tools monitor brand mentions across ChatGPT a…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visibility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#6.4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can a marketing team improve visibility in AI-g…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research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#6.0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platform compares brand visibility against com…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visibility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#5.6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AI search analytics tools include source inte…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research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#5.2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8275320" y="2761488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522208" y="29992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COVERAGE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522208" y="34107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visibility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149840" y="3429000"/>
            <a:ext cx="1078992" cy="109728"/>
          </a:xfrm>
          <a:prstGeom prst="rect">
            <a:avLst/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49840" y="3429000"/>
            <a:ext cx="799533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292840" y="33924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522208" y="3849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research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0149840" y="3867912"/>
            <a:ext cx="1078992" cy="109728"/>
          </a:xfrm>
          <a:prstGeom prst="rect">
            <a:avLst/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149840" y="3867912"/>
            <a:ext cx="752057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292840" y="383133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AI visibility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often each brand appears, where it ranks, and the distance from the closest measured competitor.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3794760" cy="987552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922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LEAD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 pts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148840" y="20116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vs Apollo Hospitals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6720840" cy="3218688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graphicFrame>
        <p:nvGraphicFramePr>
          <p:cNvPr id="12" name="Chart 0" descr=""/>
          <p:cNvGraphicFramePr/>
          <p:nvPr/>
        </p:nvGraphicFramePr>
        <p:xfrm>
          <a:off x="822960" y="3063240"/>
          <a:ext cx="6263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543800" y="1572768"/>
            <a:ext cx="4069080" cy="443484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90688" y="184708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BENCHMARK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90688" y="2194560"/>
          <a:ext cx="3566160" cy="3246120"/>
        </p:xfrm>
        <a:graphic>
          <a:graphicData uri="http://schemas.openxmlformats.org/drawingml/2006/table">
            <a:tbl>
              <a:tblPr/>
              <a:tblGrid>
                <a:gridCol w="1508760"/>
                <a:gridCol w="731520"/>
                <a:gridCol w="640080"/>
                <a:gridCol w="685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BRAND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SENT.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Vikas Hospitals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#3.1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78.2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Apollo Hospitals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#4.8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72.4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Aster Hospitals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#5.2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69.8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Manipal Hospitals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#5.9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70.5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KIMS Hospitals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#6.4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67.2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 Hospitals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#7.1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influence and citation gaps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domains shaping AI answers, their source category, and whether structured evidence confirms the brand.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72768"/>
            <a:ext cx="214884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728216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DOMAINS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40664" y="192938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0664" y="2286000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in this report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880360" y="1572768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572768"/>
            <a:ext cx="2148840" cy="457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1728216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CONFIRMED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26664" y="192938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026664" y="2286000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source evidence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166360" y="1572768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1572768"/>
            <a:ext cx="21488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1728216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PRESENCE GAPS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2664" y="192938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312664" y="2286000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confirmed brand presence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594360" y="2761488"/>
            <a:ext cx="7452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299923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HIGHEST-INFLUENCE DOMAINS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319272"/>
          <a:ext cx="6949440" cy="2240280"/>
        </p:xfrm>
        <a:graphic>
          <a:graphicData uri="http://schemas.openxmlformats.org/drawingml/2006/table">
            <a:tbl>
              <a:tblPr/>
              <a:tblGrid>
                <a:gridCol w="2240280"/>
                <a:gridCol w="685800"/>
                <a:gridCol w="1188720"/>
                <a:gridCol w="960120"/>
                <a:gridCol w="1234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DOMAIN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CITATIONS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BRAND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practo.com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justdial.com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EDITORIAL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timesofindia.com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EDITORIAL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vikashospitals.com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26.9%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reddit.com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EDITORIAL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practo.com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EDITORIAL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justdial.com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24.8%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8275320" y="1572768"/>
            <a:ext cx="3337560" cy="443484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522208" y="18470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MIX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522208" y="22677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168128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188 citations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22208" y="2523744"/>
            <a:ext cx="2697480" cy="91440"/>
          </a:xfrm>
          <a:prstGeom prst="rect">
            <a:avLst/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22208" y="2523744"/>
            <a:ext cx="2697480" cy="9144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2208" y="27797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168128" y="2779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 citations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522208" y="3035808"/>
            <a:ext cx="2697480" cy="91440"/>
          </a:xfrm>
          <a:prstGeom prst="rect">
            <a:avLst/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22208" y="3035808"/>
            <a:ext cx="1736144" cy="9144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22208" y="3291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UGC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168128" y="3291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 citations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522208" y="3547872"/>
            <a:ext cx="2697480" cy="91440"/>
          </a:xfrm>
          <a:prstGeom prst="rect">
            <a:avLst/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522208" y="3547872"/>
            <a:ext cx="1047426" cy="9144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22208" y="38039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168128" y="38039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citations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8522208" y="4059936"/>
            <a:ext cx="2697480" cy="91440"/>
          </a:xfrm>
          <a:prstGeom prst="rect">
            <a:avLst/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522208" y="4059936"/>
            <a:ext cx="502190" cy="9144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522208" y="5468112"/>
            <a:ext cx="2697480" cy="34747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68512" y="5577840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move: establish presence on justdial.com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30/60/90-day action plan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work orders connected to measured prompts, engines, competitors, and source evidence.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3218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85800" cy="201168"/>
          </a:xfrm>
          <a:prstGeom prst="roundRect">
            <a:avLst/>
          </a:prstGeom>
          <a:solidFill>
            <a:srgbClr val="07152D"/>
          </a:solidFill>
          <a:ln w="12700">
            <a:solidFill>
              <a:srgbClr val="071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01368"/>
            <a:ext cx="685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1581912" y="179222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77240" y="204825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high-intent healthcare visibility priority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408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strengthen an evidence-rich service page, then earn authoritative third-party mentions and monitor movement.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4279392" y="2340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 opportunity score with a measured competitor and source gap.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172200" y="1572768"/>
            <a:ext cx="53218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737360"/>
            <a:ext cx="685800" cy="201168"/>
          </a:xfrm>
          <a:prstGeom prst="roundRect">
            <a:avLst/>
          </a:prstGeom>
          <a:solidFill>
            <a:srgbClr val="07152D"/>
          </a:solidFill>
          <a:ln w="12700">
            <a:solidFill>
              <a:srgbClr val="0715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01368"/>
            <a:ext cx="685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7159752" y="179222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355080" y="204825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high-intent healthcare visibility priority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3408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strengthen an evidence-rich service page, then earn authoritative third-party mentions and monitor movement.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857232" y="2340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 opportunity score with a measured competitor and source gap.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4360" y="3145536"/>
            <a:ext cx="5321808" cy="1325880"/>
          </a:xfrm>
          <a:prstGeom prst="roundRect">
            <a:avLst>
              <a:gd name="adj" fmla="val 4138"/>
            </a:avLst>
          </a:prstGeom>
          <a:solidFill>
            <a:srgbClr val="FBFD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310128"/>
            <a:ext cx="685800" cy="201168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74136"/>
            <a:ext cx="685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1581912" y="33649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7240" y="3621024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high-intent healthcare visibility priority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9136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strengthen an evidence-rich service page, then earn authoritative third-party mentions and monitor movement.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279392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 opportunity score with a measured competitor and source gap.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172200" y="3145536"/>
            <a:ext cx="5321808" cy="1325880"/>
          </a:xfrm>
          <a:prstGeom prst="roundRect">
            <a:avLst>
              <a:gd name="adj" fmla="val 4138"/>
            </a:avLst>
          </a:prstGeom>
          <a:solidFill>
            <a:srgbClr val="FBFD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3310128"/>
            <a:ext cx="685800" cy="201168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374136"/>
            <a:ext cx="685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7159752" y="33649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55080" y="3621024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high-intent healthcare visibility priority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9136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strengthen an evidence-rich service page, then earn authoritative third-party mentions and monitor movement.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857232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 opportunity score with a measured competitor and source gap.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594360" y="4718304"/>
            <a:ext cx="5321808" cy="1325880"/>
          </a:xfrm>
          <a:prstGeom prst="roundRect">
            <a:avLst>
              <a:gd name="adj" fmla="val 4138"/>
            </a:avLst>
          </a:prstGeom>
          <a:solidFill>
            <a:srgbClr val="FBFD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7240" y="4882896"/>
            <a:ext cx="685800" cy="201168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946904"/>
            <a:ext cx="685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40" dirty="0"/>
          </a:p>
        </p:txBody>
      </p:sp>
      <p:sp>
        <p:nvSpPr>
          <p:cNvPr id="38" name="Text 36"/>
          <p:cNvSpPr/>
          <p:nvPr/>
        </p:nvSpPr>
        <p:spPr>
          <a:xfrm>
            <a:off x="1581912" y="49377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77240" y="519379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high-intent healthcare visibility priority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5486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strengthen an evidence-rich service page, then earn authoritative third-party mentions and monitor movement.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4279392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 opportunity score with a measured competitor and source gap.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6172200" y="4718304"/>
            <a:ext cx="5321808" cy="1325880"/>
          </a:xfrm>
          <a:prstGeom prst="roundRect">
            <a:avLst>
              <a:gd name="adj" fmla="val 4138"/>
            </a:avLst>
          </a:prstGeom>
          <a:solidFill>
            <a:srgbClr val="FBFD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4882896"/>
            <a:ext cx="685800" cy="201168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946904"/>
            <a:ext cx="685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7159752" y="49377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519379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high-intent healthcare visibility priority 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5486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strengthen an evidence-rich service page, then earn authoritative third-party mentions and monitor movement.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9857232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opportunity score with a measured competitor and source gap.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509760" y="-1325880"/>
            <a:ext cx="4023360" cy="4023360"/>
          </a:xfrm>
          <a:prstGeom prst="arc">
            <a:avLst/>
          </a:prstGeom>
          <a:solidFill>
            <a:srgbClr val="DDF2FF">
              <a:alpha val="82000"/>
            </a:srgbClr>
          </a:solidFill>
          <a:ln w="12700">
            <a:solidFill>
              <a:srgbClr val="DDF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and methodology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1247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measured evidence behind this presentation and the rules used to prevent unsupported conclusions.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72768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REPRESENTED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4066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066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 response set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78892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572768"/>
            <a:ext cx="2057400" cy="45720"/>
          </a:xfrm>
          <a:prstGeom prst="rect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3522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93522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active filters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498348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1572768"/>
            <a:ext cx="2057400" cy="457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RUNS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12978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2978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visibility runs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178040" y="157276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1572768"/>
            <a:ext cx="2057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1728216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CHECKS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24344" y="19293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324344" y="2286000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review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94360" y="2816352"/>
            <a:ext cx="1101852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0906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INTERPRET THIS REPORT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96112" y="3547872"/>
            <a:ext cx="91440" cy="914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350215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is the share of successfully analyzed AI responses that mention the tracked brand.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6245352" y="3547872"/>
            <a:ext cx="91440" cy="914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50215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position is calculated only for responses where the tracked brand is present; lower is better.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96112" y="4270248"/>
            <a:ext cx="91440" cy="91440"/>
          </a:xfrm>
          <a:prstGeom prst="ellipse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422452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names are normalized case-insensitively before aggregation to prevent duplicate leaderboard entries.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245352" y="4270248"/>
            <a:ext cx="91440" cy="91440"/>
          </a:xfrm>
          <a:prstGeom prst="ellipse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422452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Engine, prompt, competitor, sentiment, and source metrics reuse stored response evidence; this export makes no new provider or LLM calls.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896112" y="4992624"/>
            <a:ext cx="91440" cy="91440"/>
          </a:xfrm>
          <a:prstGeom prst="ellipse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94690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source brand presence is shown only when structured source metadata explicitly contains the tracked brand.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245352" y="4992624"/>
            <a:ext cx="91440" cy="91440"/>
          </a:xfrm>
          <a:prstGeom prst="ellipse">
            <a:avLst/>
          </a:prstGeom>
          <a:solidFill>
            <a:srgbClr val="61C7F2"/>
          </a:solidFill>
          <a:ln w="12700">
            <a:solidFill>
              <a:srgbClr val="61C7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494690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Previous-period changes use the immediately preceding reporting window.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94360" y="6510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Vikas Hospitals · Confidential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498080" y="65105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PromptPulse · Last 30 days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Vikas Hospitals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Vikas Hospitals AI Visibility Intelligence Report</dc:title>
  <dc:subject>AI visibility intelligence</dc:subject>
  <dc:creator>Vikas Hospitals</dc:creator>
  <cp:lastModifiedBy>Vikas Hospitals</cp:lastModifiedBy>
  <cp:revision>1</cp:revision>
  <dcterms:created xsi:type="dcterms:W3CDTF">2026-07-27T01:35:28Z</dcterms:created>
  <dcterms:modified xsi:type="dcterms:W3CDTF">2026-07-27T01:35:28Z</dcterms:modified>
</cp:coreProperties>
</file>